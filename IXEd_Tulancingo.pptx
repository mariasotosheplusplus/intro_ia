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70" r:id="rId7"/>
    <p:sldId id="265" r:id="rId8"/>
    <p:sldId id="268" r:id="rId9"/>
    <p:sldId id="266" r:id="rId10"/>
    <p:sldId id="271" r:id="rId11"/>
    <p:sldId id="269" r:id="rId12"/>
    <p:sldId id="267" r:id="rId13"/>
  </p:sldIdLst>
  <p:sldSz cx="18288000" cy="10287000"/>
  <p:notesSz cx="6858000" cy="9144000"/>
  <p:embeddedFontLst>
    <p:embeddedFont>
      <p:font typeface="League Spartan" panose="020B0604020202020204" charset="0"/>
      <p:regular r:id="rId14"/>
    </p:embeddedFont>
    <p:embeddedFont>
      <p:font typeface="Open Sans 1" panose="020B0604020202020204" charset="0"/>
      <p:regular r:id="rId15"/>
    </p:embeddedFont>
    <p:embeddedFont>
      <p:font typeface="Open Sans 1 Bold" panose="020B0604020202020204" charset="0"/>
      <p:regular r:id="rId16"/>
    </p:embeddedFont>
    <p:embeddedFont>
      <p:font typeface="Open Sans 1 Italics" panose="020B0604020202020204" charset="0"/>
      <p:regular r:id="rId17"/>
    </p:embeddedFont>
    <p:embeddedFont>
      <p:font typeface="Open Sans 2" panose="020B0604020202020204" charset="0"/>
      <p:regular r:id="rId18"/>
    </p:embeddedFont>
    <p:embeddedFont>
      <p:font typeface="Open Sans 2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43" d="100"/>
          <a:sy n="43" d="100"/>
        </p:scale>
        <p:origin x="76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2.png"/><Relationship Id="rId7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eachablemachine.withgoogle.com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028700" y="952267"/>
            <a:ext cx="16230600" cy="8382465"/>
            <a:chOff x="0" y="0"/>
            <a:chExt cx="6045684" cy="31223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45684" cy="3122357"/>
            </a:xfrm>
            <a:custGeom>
              <a:avLst/>
              <a:gdLst/>
              <a:ahLst/>
              <a:cxnLst/>
              <a:rect l="l" t="t" r="r" b="b"/>
              <a:pathLst>
                <a:path w="6045684" h="3122357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74539" y="8993151"/>
            <a:ext cx="4284389" cy="1567256"/>
            <a:chOff x="0" y="0"/>
            <a:chExt cx="1128399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8399" cy="412775"/>
            </a:xfrm>
            <a:custGeom>
              <a:avLst/>
              <a:gdLst/>
              <a:ahLst/>
              <a:cxnLst/>
              <a:rect l="l" t="t" r="r" b="b"/>
              <a:pathLst>
                <a:path w="1128399" h="412775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9254" cy="412775"/>
            </a:xfrm>
            <a:custGeom>
              <a:avLst/>
              <a:gdLst/>
              <a:ahLst/>
              <a:cxnLst/>
              <a:rect l="l" t="t" r="r" b="b"/>
              <a:pathLst>
                <a:path w="1839254" h="412775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 flipH="1" flipV="1">
            <a:off x="10540746" y="-52264"/>
            <a:ext cx="11547949" cy="9406329"/>
          </a:xfrm>
          <a:custGeom>
            <a:avLst/>
            <a:gdLst/>
            <a:ahLst/>
            <a:cxnLst/>
            <a:rect l="l" t="t" r="r" b="b"/>
            <a:pathLst>
              <a:path w="11547949" h="940632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2118001" y="4660425"/>
            <a:ext cx="11777670" cy="30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999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INTELIGENCIA ARTIFICIAL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38600" y="3641450"/>
            <a:ext cx="7834255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5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INTRODUCCIÓN A LA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20630" y="1947730"/>
            <a:ext cx="5392207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@SHEPLUSPLUSMX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11950" y="7888354"/>
            <a:ext cx="4756684" cy="36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5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Presentado por: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11950" y="8231889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MARÍA SOTO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13553005" y="935761"/>
            <a:ext cx="5036482" cy="5036482"/>
          </a:xfrm>
          <a:prstGeom prst="line">
            <a:avLst/>
          </a:prstGeom>
          <a:ln w="114300" cap="flat">
            <a:solidFill>
              <a:srgbClr val="FF99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9" name="AutoShape 19"/>
          <p:cNvSpPr/>
          <p:nvPr/>
        </p:nvSpPr>
        <p:spPr>
          <a:xfrm flipV="1">
            <a:off x="14602740" y="4540846"/>
            <a:ext cx="1216428" cy="1216428"/>
          </a:xfrm>
          <a:prstGeom prst="line">
            <a:avLst/>
          </a:prstGeom>
          <a:ln w="114300" cap="flat">
            <a:solidFill>
              <a:srgbClr val="FF99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0" name="AutoShape 20"/>
          <p:cNvSpPr/>
          <p:nvPr/>
        </p:nvSpPr>
        <p:spPr>
          <a:xfrm flipV="1">
            <a:off x="12944791" y="7512571"/>
            <a:ext cx="2942644" cy="2942644"/>
          </a:xfrm>
          <a:prstGeom prst="line">
            <a:avLst/>
          </a:prstGeom>
          <a:ln w="114300" cap="flat">
            <a:solidFill>
              <a:srgbClr val="782A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1" name="AutoShape 21"/>
          <p:cNvSpPr/>
          <p:nvPr/>
        </p:nvSpPr>
        <p:spPr>
          <a:xfrm flipV="1">
            <a:off x="11473469" y="9776779"/>
            <a:ext cx="2942644" cy="2942644"/>
          </a:xfrm>
          <a:prstGeom prst="line">
            <a:avLst/>
          </a:prstGeom>
          <a:ln w="114300" cap="flat">
            <a:solidFill>
              <a:srgbClr val="782A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" name="Freeform 22"/>
          <p:cNvSpPr/>
          <p:nvPr/>
        </p:nvSpPr>
        <p:spPr>
          <a:xfrm>
            <a:off x="1223561" y="1028700"/>
            <a:ext cx="2274939" cy="2274939"/>
          </a:xfrm>
          <a:custGeom>
            <a:avLst/>
            <a:gdLst/>
            <a:ahLst/>
            <a:cxnLst/>
            <a:rect l="l" t="t" r="r" b="b"/>
            <a:pathLst>
              <a:path w="2274939" h="2274939">
                <a:moveTo>
                  <a:pt x="0" y="0"/>
                </a:moveTo>
                <a:lnTo>
                  <a:pt x="2274939" y="0"/>
                </a:lnTo>
                <a:lnTo>
                  <a:pt x="2274939" y="2274939"/>
                </a:lnTo>
                <a:lnTo>
                  <a:pt x="0" y="2274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53707" y="3306067"/>
            <a:ext cx="2498868" cy="2498868"/>
            <a:chOff x="0" y="0"/>
            <a:chExt cx="3331824" cy="3331824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782A8C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917" y="466286"/>
              <a:ext cx="2505689" cy="2505689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9235425" y="3306067"/>
            <a:ext cx="2498868" cy="2498868"/>
            <a:chOff x="0" y="0"/>
            <a:chExt cx="3331824" cy="3331824"/>
          </a:xfrm>
        </p:grpSpPr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 rot="54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F99FF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86640" y="461273"/>
              <a:ext cx="2510702" cy="251070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9235425" y="5936126"/>
            <a:ext cx="2498868" cy="2498868"/>
            <a:chOff x="0" y="0"/>
            <a:chExt cx="3331824" cy="3331824"/>
          </a:xfrm>
        </p:grpSpPr>
        <p:grpSp>
          <p:nvGrpSpPr>
            <p:cNvPr id="19" name="Group 19"/>
            <p:cNvGrpSpPr>
              <a:grpSpLocks noChangeAspect="1"/>
            </p:cNvGrpSpPr>
            <p:nvPr/>
          </p:nvGrpSpPr>
          <p:grpSpPr>
            <a:xfrm rot="-108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782A8C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74877" y="374877"/>
              <a:ext cx="2530206" cy="2530206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553707" y="5936126"/>
            <a:ext cx="2521050" cy="2521050"/>
            <a:chOff x="0" y="0"/>
            <a:chExt cx="3361401" cy="3361401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 rot="-5400000">
              <a:off x="0" y="0"/>
              <a:ext cx="3361401" cy="3361401"/>
              <a:chOff x="0" y="0"/>
              <a:chExt cx="14400530" cy="144005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00530" cy="14399261"/>
              </a:xfrm>
              <a:custGeom>
                <a:avLst/>
                <a:gdLst/>
                <a:ahLst/>
                <a:cxnLst/>
                <a:rect l="l" t="t" r="r" b="b"/>
                <a:pathLst>
                  <a:path w="14400530" h="14399261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DD4EDA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08917" y="443611"/>
              <a:ext cx="2508873" cy="250887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30" name="Freeform 30"/>
          <p:cNvSpPr/>
          <p:nvPr/>
        </p:nvSpPr>
        <p:spPr>
          <a:xfrm>
            <a:off x="7077776" y="3819044"/>
            <a:ext cx="1472914" cy="1472914"/>
          </a:xfrm>
          <a:custGeom>
            <a:avLst/>
            <a:gdLst/>
            <a:ahLst/>
            <a:cxnLst/>
            <a:rect l="l" t="t" r="r" b="b"/>
            <a:pathLst>
              <a:path w="1472914" h="1472914">
                <a:moveTo>
                  <a:pt x="0" y="0"/>
                </a:moveTo>
                <a:lnTo>
                  <a:pt x="1472913" y="0"/>
                </a:lnTo>
                <a:lnTo>
                  <a:pt x="1472913" y="1472913"/>
                </a:lnTo>
                <a:lnTo>
                  <a:pt x="0" y="1472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1" name="Freeform 31"/>
          <p:cNvSpPr/>
          <p:nvPr/>
        </p:nvSpPr>
        <p:spPr>
          <a:xfrm>
            <a:off x="7234425" y="6629853"/>
            <a:ext cx="1159615" cy="1159615"/>
          </a:xfrm>
          <a:custGeom>
            <a:avLst/>
            <a:gdLst/>
            <a:ahLst/>
            <a:cxnLst/>
            <a:rect l="l" t="t" r="r" b="b"/>
            <a:pathLst>
              <a:path w="1159615" h="1159615">
                <a:moveTo>
                  <a:pt x="0" y="0"/>
                </a:moveTo>
                <a:lnTo>
                  <a:pt x="1159615" y="0"/>
                </a:lnTo>
                <a:lnTo>
                  <a:pt x="1159615" y="1159615"/>
                </a:lnTo>
                <a:lnTo>
                  <a:pt x="0" y="1159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2" name="Freeform 32"/>
          <p:cNvSpPr/>
          <p:nvPr/>
        </p:nvSpPr>
        <p:spPr>
          <a:xfrm>
            <a:off x="9757185" y="6591513"/>
            <a:ext cx="1455348" cy="1188093"/>
          </a:xfrm>
          <a:custGeom>
            <a:avLst/>
            <a:gdLst/>
            <a:ahLst/>
            <a:cxnLst/>
            <a:rect l="l" t="t" r="r" b="b"/>
            <a:pathLst>
              <a:path w="1455348" h="1188093">
                <a:moveTo>
                  <a:pt x="0" y="0"/>
                </a:moveTo>
                <a:lnTo>
                  <a:pt x="1455348" y="0"/>
                </a:lnTo>
                <a:lnTo>
                  <a:pt x="1455348" y="1188093"/>
                </a:lnTo>
                <a:lnTo>
                  <a:pt x="0" y="1188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3" name="Freeform 33"/>
          <p:cNvSpPr/>
          <p:nvPr/>
        </p:nvSpPr>
        <p:spPr>
          <a:xfrm>
            <a:off x="9835070" y="3901450"/>
            <a:ext cx="1299577" cy="1316330"/>
          </a:xfrm>
          <a:custGeom>
            <a:avLst/>
            <a:gdLst/>
            <a:ahLst/>
            <a:cxnLst/>
            <a:rect l="l" t="t" r="r" b="b"/>
            <a:pathLst>
              <a:path w="1299577" h="1316330">
                <a:moveTo>
                  <a:pt x="0" y="0"/>
                </a:moveTo>
                <a:lnTo>
                  <a:pt x="1299577" y="0"/>
                </a:lnTo>
                <a:lnTo>
                  <a:pt x="1299577" y="1316330"/>
                </a:lnTo>
                <a:lnTo>
                  <a:pt x="0" y="1316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4" name="TextBox 34"/>
          <p:cNvSpPr txBox="1"/>
          <p:nvPr/>
        </p:nvSpPr>
        <p:spPr>
          <a:xfrm>
            <a:off x="2643955" y="1725049"/>
            <a:ext cx="1314205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sz="5000" spc="16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¿CÓMO TRABAJAREMOS?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10703" y="4000327"/>
            <a:ext cx="4184277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AutoNum type="arabicPeriod"/>
            </a:pPr>
            <a:r>
              <a:rPr lang="en-US" sz="3999" spc="-9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COMUNIDAD SHE++ MX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10543" y="3825250"/>
            <a:ext cx="4349191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PRACTIQUEMOS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10543" y="6807734"/>
            <a:ext cx="372246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 DESPEDIDA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178424" y="6479411"/>
            <a:ext cx="361655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-9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LA CIENCIA DE LA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477486" y="3088067"/>
            <a:ext cx="15333028" cy="129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¿QUÉ ES LA IA?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89594" y="4425875"/>
            <a:ext cx="10908813" cy="56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HAGAMOS LLUVIA DE IDEAS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4201449" y="-11005002"/>
            <a:ext cx="2045233" cy="20947169"/>
            <a:chOff x="0" y="0"/>
            <a:chExt cx="538662" cy="55169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Freeform 16"/>
          <p:cNvSpPr/>
          <p:nvPr/>
        </p:nvSpPr>
        <p:spPr>
          <a:xfrm>
            <a:off x="14019925" y="2436773"/>
            <a:ext cx="2449588" cy="2706727"/>
          </a:xfrm>
          <a:custGeom>
            <a:avLst/>
            <a:gdLst/>
            <a:ahLst/>
            <a:cxnLst/>
            <a:rect l="l" t="t" r="r" b="b"/>
            <a:pathLst>
              <a:path w="2449588" h="2706727">
                <a:moveTo>
                  <a:pt x="0" y="0"/>
                </a:moveTo>
                <a:lnTo>
                  <a:pt x="2449587" y="0"/>
                </a:lnTo>
                <a:lnTo>
                  <a:pt x="2449587" y="2706727"/>
                </a:lnTo>
                <a:lnTo>
                  <a:pt x="0" y="2706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TextBox 17"/>
          <p:cNvSpPr txBox="1"/>
          <p:nvPr/>
        </p:nvSpPr>
        <p:spPr>
          <a:xfrm>
            <a:off x="638267" y="5367782"/>
            <a:ext cx="17011465" cy="52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 IA </a:t>
            </a:r>
            <a:r>
              <a:rPr lang="en-US" sz="3081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permite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a las </a:t>
            </a:r>
            <a:r>
              <a:rPr lang="en-US" sz="3081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máquinas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081" i="1" dirty="0" err="1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pensar</a:t>
            </a:r>
            <a:r>
              <a:rPr lang="en-US" sz="3081" i="1" dirty="0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y </a:t>
            </a:r>
            <a:r>
              <a:rPr lang="en-US" sz="3081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tomar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081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decisiones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sin ser </a:t>
            </a:r>
            <a:r>
              <a:rPr lang="en-US" sz="3081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programadas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para </a:t>
            </a:r>
            <a:r>
              <a:rPr lang="en-US" sz="3081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cada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081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caso</a:t>
            </a:r>
            <a:r>
              <a:rPr lang="en-US" sz="3081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02619" y="6280111"/>
            <a:ext cx="10294381" cy="503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Simulación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inteligencia</a:t>
            </a:r>
            <a:r>
              <a:rPr lang="en-US" sz="2999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humana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en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máquinas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5645" y="7165936"/>
            <a:ext cx="16373655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Sistemas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capaces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realizar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tareas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como</a:t>
            </a:r>
            <a:r>
              <a:rPr lang="en-US" sz="29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reconocimiento</a:t>
            </a:r>
            <a:r>
              <a:rPr lang="en-US" sz="2999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patrones</a:t>
            </a:r>
            <a:r>
              <a:rPr lang="en-US" sz="2999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,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toma</a:t>
            </a:r>
            <a:r>
              <a:rPr lang="en-US" sz="2999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decisiones</a:t>
            </a:r>
            <a:r>
              <a:rPr lang="en-US" sz="2999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y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procesamiento</a:t>
            </a:r>
            <a:r>
              <a:rPr lang="en-US" sz="2999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del </a:t>
            </a:r>
            <a:r>
              <a:rPr lang="en-US" sz="2999" b="1" dirty="0" err="1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lenguaje</a:t>
            </a:r>
            <a:r>
              <a:rPr lang="en-US" sz="2999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477486" y="3088067"/>
            <a:ext cx="15333028" cy="129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¿QUÉ ES LA IA?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89594" y="4425875"/>
            <a:ext cx="10908813" cy="56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¿Cómo diferenciar una IA de algo que no lo es?</a:t>
            </a:r>
          </a:p>
        </p:txBody>
      </p:sp>
      <p:grpSp>
        <p:nvGrpSpPr>
          <p:cNvPr id="5" name="Group 5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4201449" y="-11005002"/>
            <a:ext cx="2045233" cy="20947169"/>
            <a:chOff x="0" y="0"/>
            <a:chExt cx="538662" cy="55169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TextBox 16"/>
          <p:cNvSpPr txBox="1"/>
          <p:nvPr/>
        </p:nvSpPr>
        <p:spPr>
          <a:xfrm>
            <a:off x="531829" y="5648226"/>
            <a:ext cx="8907586" cy="2555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✅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Aprende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y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mejora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con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el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tiempo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(TikTok).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✅ Toma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decisiones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basadas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en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datos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(Google Maps).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✅ Genera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contenido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nuevo (IAs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Generativas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).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✅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Interactúa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con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el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mundo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(</a:t>
            </a:r>
            <a:r>
              <a:rPr lang="en-US" sz="2899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reconocimiento</a:t>
            </a:r>
            <a:r>
              <a:rPr lang="en-US" sz="2899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facial).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46924" y="5657751"/>
            <a:ext cx="7746001" cy="259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❌ Una calculadora (solo sigue reglas).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❌ Un filtro de Instagram (aplica un efecto, pero no aprende ni toma decisiones).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❌ Un semáforo programado (sigue una rutina fija).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 l="-2244" r="-2244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477486" y="1802246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 CIENC</a:t>
            </a:r>
            <a:r>
              <a:rPr lang="en-US" sz="8465">
                <a:solidFill>
                  <a:srgbClr val="9753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 </a:t>
            </a: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 LA </a:t>
            </a:r>
            <a:r>
              <a:rPr lang="en-US" sz="8465">
                <a:solidFill>
                  <a:srgbClr val="9753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420144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3689594" y="3222306"/>
            <a:ext cx="10908813" cy="56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¿CÓMO APRENDEN LAS MÁQUINAS?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" y="3983345"/>
            <a:ext cx="3967136" cy="4894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800" b="1" dirty="0">
                <a:solidFill>
                  <a:srgbClr val="782A8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Machine Learning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permite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que las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máquinas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aprendan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a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partir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de </a:t>
            </a:r>
            <a:r>
              <a:rPr lang="en-US" sz="2800" i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datos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y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hacer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predicciones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sin ser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programada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manualmente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para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cada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tarea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11557" y="7734300"/>
            <a:ext cx="6924043" cy="1573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5" lvl="1" indent="-323848">
              <a:lnSpc>
                <a:spcPts val="419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El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aprendizaje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máquina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puede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ser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supervisado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o no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supervisado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Utiliza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algoritmos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y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modelos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estadísticos</a:t>
            </a:r>
            <a:r>
              <a:rPr lang="en-US" sz="2800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1387D7-4A7B-ED3F-1B5C-17B38CC5F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137" y="3113862"/>
            <a:ext cx="11690416" cy="637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 l="-2244" r="-2244"/>
            </a:stretch>
          </a:blipFill>
        </p:spPr>
        <p:txBody>
          <a:bodyPr/>
          <a:lstStyle/>
          <a:p>
            <a:r>
              <a:rPr lang="es-MX" dirty="0"/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77486" y="1802246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 CIENC</a:t>
            </a:r>
            <a:r>
              <a:rPr lang="en-US" sz="8465">
                <a:solidFill>
                  <a:srgbClr val="9753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 </a:t>
            </a:r>
            <a:r>
              <a:rPr lang="en-US" sz="846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 LA </a:t>
            </a:r>
            <a:r>
              <a:rPr lang="en-US" sz="8465">
                <a:solidFill>
                  <a:srgbClr val="9753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IA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420144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3689594" y="3222306"/>
            <a:ext cx="10908813" cy="56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¿CÓMO APRENDEN LAS MÁQUINAS?</a:t>
            </a:r>
          </a:p>
        </p:txBody>
      </p:sp>
      <p:sp>
        <p:nvSpPr>
          <p:cNvPr id="18" name="AutoShape 2" descr="Diagramas En La Inteligencia Artificial: Tipos Y Beneficios ...">
            <a:extLst>
              <a:ext uri="{FF2B5EF4-FFF2-40B4-BE49-F238E27FC236}">
                <a16:creationId xmlns:a16="http://schemas.microsoft.com/office/drawing/2014/main" id="{A8AFCA23-9EB4-DB76-57FE-BB8F93530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C1F8D99-6C63-E00A-61C9-9B386710F7B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22125" y="3997107"/>
            <a:ext cx="9067800" cy="55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4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2027983" y="1949083"/>
            <a:ext cx="1383651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MACHINE LEARNING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0" y="2768233"/>
            <a:ext cx="7218901" cy="7218901"/>
            <a:chOff x="0" y="0"/>
            <a:chExt cx="9625201" cy="96252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25201" cy="9625201"/>
            </a:xfrm>
            <a:custGeom>
              <a:avLst/>
              <a:gdLst/>
              <a:ahLst/>
              <a:cxnLst/>
              <a:rect l="l" t="t" r="r" b="b"/>
              <a:pathLst>
                <a:path w="9625201" h="9625201">
                  <a:moveTo>
                    <a:pt x="0" y="0"/>
                  </a:moveTo>
                  <a:lnTo>
                    <a:pt x="9625201" y="0"/>
                  </a:lnTo>
                  <a:lnTo>
                    <a:pt x="9625201" y="9625201"/>
                  </a:lnTo>
                  <a:lnTo>
                    <a:pt x="0" y="9625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895633" y="1939938"/>
              <a:ext cx="5615660" cy="5615660"/>
              <a:chOff x="0" y="0"/>
              <a:chExt cx="1247008" cy="124700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47008" cy="1247008"/>
              </a:xfrm>
              <a:custGeom>
                <a:avLst/>
                <a:gdLst/>
                <a:ahLst/>
                <a:cxnLst/>
                <a:rect l="l" t="t" r="r" b="b"/>
                <a:pathLst>
                  <a:path w="1247008" h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9940070" y="4441585"/>
            <a:ext cx="6015262" cy="423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283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💡 Ejemplo:</a:t>
            </a:r>
          </a:p>
          <a:p>
            <a:pPr marL="612559" lvl="1" indent="-306280" algn="l">
              <a:lnSpc>
                <a:spcPts val="4255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Spotify agrupa usuarios con gustos similares para recomendar música.</a:t>
            </a:r>
          </a:p>
          <a:p>
            <a:pPr algn="l">
              <a:lnSpc>
                <a:spcPts val="4255"/>
              </a:lnSpc>
            </a:pPr>
            <a:endParaRPr lang="en-US" sz="2837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612559" lvl="1" indent="-306280" algn="l">
              <a:lnSpc>
                <a:spcPts val="4255"/>
              </a:lnSpc>
              <a:buFont typeface="Arial"/>
              <a:buChar char="•"/>
            </a:pPr>
            <a:r>
              <a:rPr lang="en-US" sz="283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Google Noticias agrupa noticias relacionadas automáticamente.</a:t>
            </a:r>
          </a:p>
          <a:p>
            <a:pPr algn="l">
              <a:lnSpc>
                <a:spcPts val="4255"/>
              </a:lnSpc>
            </a:pPr>
            <a:endParaRPr lang="en-US" sz="2837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652634" y="2768233"/>
            <a:ext cx="7218901" cy="7218901"/>
            <a:chOff x="0" y="0"/>
            <a:chExt cx="9625201" cy="96252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25201" cy="9625201"/>
            </a:xfrm>
            <a:custGeom>
              <a:avLst/>
              <a:gdLst/>
              <a:ahLst/>
              <a:cxnLst/>
              <a:rect l="l" t="t" r="r" b="b"/>
              <a:pathLst>
                <a:path w="9625201" h="9625201">
                  <a:moveTo>
                    <a:pt x="0" y="0"/>
                  </a:moveTo>
                  <a:lnTo>
                    <a:pt x="9625201" y="0"/>
                  </a:lnTo>
                  <a:lnTo>
                    <a:pt x="9625201" y="9625201"/>
                  </a:lnTo>
                  <a:lnTo>
                    <a:pt x="0" y="9625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895633" y="1939938"/>
              <a:ext cx="5615660" cy="5615660"/>
              <a:chOff x="0" y="0"/>
              <a:chExt cx="1247008" cy="124700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247008" cy="1247008"/>
              </a:xfrm>
              <a:custGeom>
                <a:avLst/>
                <a:gdLst/>
                <a:ahLst/>
                <a:cxnLst/>
                <a:rect l="l" t="t" r="r" b="b"/>
                <a:pathLst>
                  <a:path w="1247008" h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2414041" y="4240256"/>
            <a:ext cx="6233621" cy="6021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5"/>
              </a:lnSpc>
            </a:pP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💡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Ejemplo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</a:t>
            </a:r>
          </a:p>
          <a:p>
            <a:pPr marL="612559" lvl="1" indent="-306280" algn="l">
              <a:lnSpc>
                <a:spcPts val="4255"/>
              </a:lnSpc>
              <a:buFont typeface="Arial"/>
              <a:buChar char="•"/>
            </a:pP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Reconocimiento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spam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correos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electrónicos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→ Se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entrena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un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modelo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con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ejemplos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spam y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correos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normales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marL="612559" lvl="1" indent="-306280" algn="l">
              <a:lnSpc>
                <a:spcPts val="4255"/>
              </a:lnSpc>
              <a:buFont typeface="Arial"/>
              <a:buChar char="•"/>
            </a:pPr>
            <a:endParaRPr lang="en-US" sz="2837" dirty="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612559" lvl="1" indent="-306280" algn="l">
              <a:lnSpc>
                <a:spcPts val="4255"/>
              </a:lnSpc>
              <a:buFont typeface="Arial"/>
              <a:buChar char="•"/>
            </a:pP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Diagnóstico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médico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→ Un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modelo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aprende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a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diferenciar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imágenes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de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rayos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X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normales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vs. con </a:t>
            </a:r>
            <a:r>
              <a:rPr lang="en-US" sz="2837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neumonía</a:t>
            </a:r>
            <a:r>
              <a:rPr lang="en-US" sz="2837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.</a:t>
            </a:r>
          </a:p>
          <a:p>
            <a:pPr algn="l">
              <a:lnSpc>
                <a:spcPts val="4255"/>
              </a:lnSpc>
            </a:pPr>
            <a:endParaRPr lang="en-US" sz="2837" dirty="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648291" y="3665761"/>
            <a:ext cx="576512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0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Aprendizaje Supervisado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30905" y="3727674"/>
            <a:ext cx="583359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8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Aprendizaje No Supervisado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-1052349" y="-3067212"/>
            <a:ext cx="20194657" cy="3895402"/>
            <a:chOff x="0" y="0"/>
            <a:chExt cx="5318757" cy="10259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18758" cy="1025949"/>
            </a:xfrm>
            <a:custGeom>
              <a:avLst/>
              <a:gdLst/>
              <a:ahLst/>
              <a:cxnLst/>
              <a:rect l="l" t="t" r="r" b="b"/>
              <a:pathLst>
                <a:path w="5318758" h="1025949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2" name="Freeform 22"/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39ECF6D-0E4A-79A2-571A-DB965692B8D3}"/>
              </a:ext>
            </a:extLst>
          </p:cNvPr>
          <p:cNvSpPr txBox="1"/>
          <p:nvPr/>
        </p:nvSpPr>
        <p:spPr>
          <a:xfrm>
            <a:off x="685800" y="4040761"/>
            <a:ext cx="4555870" cy="1641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1" dirty="0">
                <a:solidFill>
                  <a:srgbClr val="000000"/>
                </a:solidFill>
                <a:latin typeface="HelveticaNeueLT Std" panose="020B0604020202020204" pitchFamily="34" charset="0"/>
                <a:ea typeface="League Spartan"/>
                <a:cs typeface="League Spartan"/>
                <a:sym typeface="League Spartan"/>
              </a:rPr>
              <a:t>MACHINE LEARNING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53BD7B-8BD0-D5B3-82D4-9BC3D7D4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982" y="1927256"/>
            <a:ext cx="11867784" cy="7847638"/>
          </a:xfrm>
          <a:prstGeom prst="rect">
            <a:avLst/>
          </a:prstGeom>
        </p:spPr>
      </p:pic>
      <p:grpSp>
        <p:nvGrpSpPr>
          <p:cNvPr id="5" name="Group 18">
            <a:extLst>
              <a:ext uri="{FF2B5EF4-FFF2-40B4-BE49-F238E27FC236}">
                <a16:creationId xmlns:a16="http://schemas.microsoft.com/office/drawing/2014/main" id="{55309C88-67B9-C3D4-45A0-BB3B25899DA2}"/>
              </a:ext>
            </a:extLst>
          </p:cNvPr>
          <p:cNvGrpSpPr/>
          <p:nvPr/>
        </p:nvGrpSpPr>
        <p:grpSpPr>
          <a:xfrm>
            <a:off x="-1052349" y="-3067212"/>
            <a:ext cx="20194657" cy="3895402"/>
            <a:chOff x="0" y="0"/>
            <a:chExt cx="5318757" cy="1025950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A2FCB5D5-DC1F-4F2B-25FF-9E7D97B1B1BB}"/>
                </a:ext>
              </a:extLst>
            </p:cNvPr>
            <p:cNvSpPr/>
            <p:nvPr/>
          </p:nvSpPr>
          <p:spPr>
            <a:xfrm>
              <a:off x="0" y="0"/>
              <a:ext cx="5318758" cy="1025949"/>
            </a:xfrm>
            <a:custGeom>
              <a:avLst/>
              <a:gdLst/>
              <a:ahLst/>
              <a:cxnLst/>
              <a:rect l="l" t="t" r="r" b="b"/>
              <a:pathLst>
                <a:path w="5318758" h="1025949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20">
              <a:extLst>
                <a:ext uri="{FF2B5EF4-FFF2-40B4-BE49-F238E27FC236}">
                  <a16:creationId xmlns:a16="http://schemas.microsoft.com/office/drawing/2014/main" id="{D4A30FF9-FB88-2242-BEE0-2A575AC4BEAA}"/>
                </a:ext>
              </a:extLst>
            </p:cNvPr>
            <p:cNvSpPr txBox="1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21">
            <a:extLst>
              <a:ext uri="{FF2B5EF4-FFF2-40B4-BE49-F238E27FC236}">
                <a16:creationId xmlns:a16="http://schemas.microsoft.com/office/drawing/2014/main" id="{8466195C-40A7-8C61-3D66-99AC13075CA6}"/>
              </a:ext>
            </a:extLst>
          </p:cNvPr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22">
            <a:extLst>
              <a:ext uri="{FF2B5EF4-FFF2-40B4-BE49-F238E27FC236}">
                <a16:creationId xmlns:a16="http://schemas.microsoft.com/office/drawing/2014/main" id="{941AB6E8-BA89-8B79-181E-2A14A8F5FBE0}"/>
              </a:ext>
            </a:extLst>
          </p:cNvPr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136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1052349" y="-3067212"/>
            <a:ext cx="20194657" cy="3895402"/>
            <a:chOff x="0" y="0"/>
            <a:chExt cx="5318757" cy="1025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18758" cy="1025949"/>
            </a:xfrm>
            <a:custGeom>
              <a:avLst/>
              <a:gdLst/>
              <a:ahLst/>
              <a:cxnLst/>
              <a:rect l="l" t="t" r="r" b="b"/>
              <a:pathLst>
                <a:path w="5318758" h="1025949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27983" y="1949083"/>
            <a:ext cx="1383651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PRACTIQUEMOS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116AFDC3-521E-C5AC-6C9C-22531F37C936}"/>
              </a:ext>
            </a:extLst>
          </p:cNvPr>
          <p:cNvSpPr txBox="1"/>
          <p:nvPr/>
        </p:nvSpPr>
        <p:spPr>
          <a:xfrm>
            <a:off x="2312290" y="8210560"/>
            <a:ext cx="428848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3007" dirty="0">
                <a:solidFill>
                  <a:srgbClr val="000000"/>
                </a:solidFill>
                <a:latin typeface="HelveticaNeueLT Std" panose="020B0604020202020204" pitchFamily="34" charset="0"/>
                <a:ea typeface="League Spartan"/>
                <a:cs typeface="League Spartan"/>
                <a:sym typeface="League Spartan"/>
              </a:rPr>
              <a:t>Quick, draw!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C4940FC-B9AE-AFA0-DA92-F6E46DA530C7}"/>
              </a:ext>
            </a:extLst>
          </p:cNvPr>
          <p:cNvSpPr txBox="1"/>
          <p:nvPr/>
        </p:nvSpPr>
        <p:spPr>
          <a:xfrm>
            <a:off x="6080100" y="3889126"/>
            <a:ext cx="5929757" cy="416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2400" dirty="0">
                <a:solidFill>
                  <a:srgbClr val="000000"/>
                </a:solidFill>
                <a:latin typeface="HelveticaNeueLT Std" panose="020B0604020202020204" pitchFamily="34" charset="0"/>
                <a:ea typeface="League Spartan"/>
                <a:cs typeface="League Spartan"/>
                <a:sym typeface="League Spartan"/>
                <a:hlinkClick r:id="rId6"/>
              </a:rPr>
              <a:t>Teachable Machine</a:t>
            </a:r>
            <a:endParaRPr lang="en-US" sz="2400" dirty="0">
              <a:solidFill>
                <a:srgbClr val="000000"/>
              </a:solidFill>
              <a:latin typeface="HelveticaNeueLT Std" panose="020B0604020202020204" pitchFamily="34" charset="0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81B0DAB5-74FB-D557-2D88-ACD5528497B7}"/>
              </a:ext>
            </a:extLst>
          </p:cNvPr>
          <p:cNvSpPr txBox="1"/>
          <p:nvPr/>
        </p:nvSpPr>
        <p:spPr>
          <a:xfrm>
            <a:off x="11430000" y="8415698"/>
            <a:ext cx="428848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3007" dirty="0">
                <a:solidFill>
                  <a:srgbClr val="000000"/>
                </a:solidFill>
                <a:latin typeface="HelveticaNeueLT Std" panose="020B0604020202020204" pitchFamily="34" charset="0"/>
                <a:ea typeface="League Spartan"/>
                <a:cs typeface="League Spartan"/>
                <a:sym typeface="League Spartan"/>
              </a:rPr>
              <a:t>Clustering visualizer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CF770C7-547E-D0C1-6C28-8D3A0CB142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301" y="3816608"/>
            <a:ext cx="4288487" cy="428848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932214A-D043-5C63-4B5D-7E5404EB7B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3816608"/>
            <a:ext cx="4288487" cy="42884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2020-EC83-43E5-8679-9E5CED50A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0F091D-677A-8237-216B-0FC60F26999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2C5A80-AD97-1722-9EB1-C30D6D6614ED}"/>
              </a:ext>
            </a:extLst>
          </p:cNvPr>
          <p:cNvGrpSpPr/>
          <p:nvPr/>
        </p:nvGrpSpPr>
        <p:grpSpPr>
          <a:xfrm>
            <a:off x="-1052349" y="-3067212"/>
            <a:ext cx="20194657" cy="3895402"/>
            <a:chOff x="0" y="0"/>
            <a:chExt cx="5318757" cy="10259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7DEFDE-E301-ADB8-5673-2384E3955475}"/>
                </a:ext>
              </a:extLst>
            </p:cNvPr>
            <p:cNvSpPr/>
            <p:nvPr/>
          </p:nvSpPr>
          <p:spPr>
            <a:xfrm>
              <a:off x="0" y="0"/>
              <a:ext cx="5318758" cy="1025949"/>
            </a:xfrm>
            <a:custGeom>
              <a:avLst/>
              <a:gdLst/>
              <a:ahLst/>
              <a:cxnLst/>
              <a:rect l="l" t="t" r="r" b="b"/>
              <a:pathLst>
                <a:path w="5318758" h="1025949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0FFBC19-14F9-AFB2-77E5-A03EF139C6F5}"/>
                </a:ext>
              </a:extLst>
            </p:cNvPr>
            <p:cNvSpPr txBox="1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DE68D22-F7A1-E434-9E65-FAB11F8A014D}"/>
              </a:ext>
            </a:extLst>
          </p:cNvPr>
          <p:cNvSpPr txBox="1"/>
          <p:nvPr/>
        </p:nvSpPr>
        <p:spPr>
          <a:xfrm>
            <a:off x="2027983" y="1949083"/>
            <a:ext cx="13836513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PRACTIQUEMOS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C731C10-BEBA-CF99-3A29-7273913A45C7}"/>
              </a:ext>
            </a:extLst>
          </p:cNvPr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44D2E55-7097-00E8-2CDE-536653A95DA8}"/>
              </a:ext>
            </a:extLst>
          </p:cNvPr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686DC37-2302-0C57-13E8-BB9FF7D683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343" y="3036153"/>
            <a:ext cx="10885791" cy="686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5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-1052349" y="-3067212"/>
            <a:ext cx="20194657" cy="3895402"/>
            <a:chOff x="0" y="0"/>
            <a:chExt cx="5318757" cy="1025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18758" cy="1025949"/>
            </a:xfrm>
            <a:custGeom>
              <a:avLst/>
              <a:gdLst/>
              <a:ahLst/>
              <a:cxnLst/>
              <a:rect l="l" t="t" r="r" b="b"/>
              <a:pathLst>
                <a:path w="5318758" h="1025949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27983" y="1949083"/>
            <a:ext cx="1383651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ALGUNAS APPS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15724539" y="-210928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3"/>
                </a:lnTo>
                <a:lnTo>
                  <a:pt x="0" y="1925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619F1D75-D744-FA55-4698-D8EF17EC8662}"/>
              </a:ext>
            </a:extLst>
          </p:cNvPr>
          <p:cNvSpPr txBox="1"/>
          <p:nvPr/>
        </p:nvSpPr>
        <p:spPr>
          <a:xfrm>
            <a:off x="6172200" y="8877300"/>
            <a:ext cx="524733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3600" dirty="0">
                <a:solidFill>
                  <a:srgbClr val="000000"/>
                </a:solidFill>
                <a:latin typeface="HelveticaNeueLT Std" panose="020B0604020202020204" pitchFamily="34" charset="0"/>
                <a:ea typeface="League Spartan"/>
                <a:cs typeface="League Spartan"/>
                <a:sym typeface="League Spartan"/>
              </a:rPr>
              <a:t>PROBEMOS MÁS IAs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C4F4F738-38DF-CC16-D290-8D6DBB328136}"/>
              </a:ext>
            </a:extLst>
          </p:cNvPr>
          <p:cNvSpPr txBox="1"/>
          <p:nvPr/>
        </p:nvSpPr>
        <p:spPr>
          <a:xfrm>
            <a:off x="1631923" y="8252837"/>
            <a:ext cx="379495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3007" dirty="0">
                <a:solidFill>
                  <a:srgbClr val="000000"/>
                </a:solidFill>
                <a:latin typeface="HelveticaNeueLT Std" panose="020B0604020202020204" pitchFamily="34" charset="0"/>
                <a:ea typeface="League Spartan"/>
                <a:cs typeface="League Spartan"/>
                <a:sym typeface="League Spartan"/>
              </a:rPr>
              <a:t>Nerd AI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A82B9178-86A1-86E7-8BF2-306E43D488A1}"/>
              </a:ext>
            </a:extLst>
          </p:cNvPr>
          <p:cNvSpPr txBox="1"/>
          <p:nvPr/>
        </p:nvSpPr>
        <p:spPr>
          <a:xfrm>
            <a:off x="12387988" y="8252836"/>
            <a:ext cx="379495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3007" dirty="0" err="1">
                <a:solidFill>
                  <a:srgbClr val="000000"/>
                </a:solidFill>
                <a:latin typeface="HelveticaNeueLT Std" panose="020B0604020202020204" pitchFamily="34" charset="0"/>
                <a:ea typeface="League Spartan"/>
                <a:cs typeface="League Spartan"/>
                <a:sym typeface="League Spartan"/>
              </a:rPr>
              <a:t>SkinVision</a:t>
            </a:r>
            <a:endParaRPr lang="en-US" sz="3007" dirty="0">
              <a:solidFill>
                <a:srgbClr val="000000"/>
              </a:solidFill>
              <a:latin typeface="HelveticaNeueLT Std" panose="020B0604020202020204" pitchFamily="34" charset="0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403903-AC66-DC9A-286A-19A20A846B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390900"/>
            <a:ext cx="4566995" cy="456699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551DAB8-F874-A12E-4B13-A100B21D33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966" y="3390899"/>
            <a:ext cx="4566996" cy="45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8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115119"/>
            <a:chOff x="0" y="0"/>
            <a:chExt cx="6045684" cy="30227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45684" cy="3022775"/>
            </a:xfrm>
            <a:custGeom>
              <a:avLst/>
              <a:gdLst/>
              <a:ahLst/>
              <a:cxnLst/>
              <a:rect l="l" t="t" r="r" b="b"/>
              <a:pathLst>
                <a:path w="6045684" h="3022775">
                  <a:moveTo>
                    <a:pt x="0" y="0"/>
                  </a:moveTo>
                  <a:lnTo>
                    <a:pt x="6045684" y="0"/>
                  </a:lnTo>
                  <a:lnTo>
                    <a:pt x="6045684" y="3022775"/>
                  </a:lnTo>
                  <a:lnTo>
                    <a:pt x="0" y="30227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045684" cy="3022775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74539" y="8993151"/>
            <a:ext cx="4284389" cy="1567256"/>
            <a:chOff x="0" y="0"/>
            <a:chExt cx="1128399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8399" cy="412775"/>
            </a:xfrm>
            <a:custGeom>
              <a:avLst/>
              <a:gdLst/>
              <a:ahLst/>
              <a:cxnLst/>
              <a:rect l="l" t="t" r="r" b="b"/>
              <a:pathLst>
                <a:path w="1128399" h="412775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9254" cy="412775"/>
            </a:xfrm>
            <a:custGeom>
              <a:avLst/>
              <a:gdLst/>
              <a:ahLst/>
              <a:cxnLst/>
              <a:rect l="l" t="t" r="r" b="b"/>
              <a:pathLst>
                <a:path w="1839254" h="412775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 flipH="1" flipV="1">
            <a:off x="10540746" y="-52264"/>
            <a:ext cx="11547949" cy="9406329"/>
          </a:xfrm>
          <a:custGeom>
            <a:avLst/>
            <a:gdLst/>
            <a:ahLst/>
            <a:cxnLst/>
            <a:rect l="l" t="t" r="r" b="b"/>
            <a:pathLst>
              <a:path w="11547949" h="940632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Freeform 13"/>
          <p:cNvSpPr/>
          <p:nvPr/>
        </p:nvSpPr>
        <p:spPr>
          <a:xfrm>
            <a:off x="2118001" y="1688159"/>
            <a:ext cx="491457" cy="480734"/>
          </a:xfrm>
          <a:custGeom>
            <a:avLst/>
            <a:gdLst/>
            <a:ahLst/>
            <a:cxnLst/>
            <a:rect l="l" t="t" r="r" b="b"/>
            <a:pathLst>
              <a:path w="491457" h="480734">
                <a:moveTo>
                  <a:pt x="0" y="0"/>
                </a:moveTo>
                <a:lnTo>
                  <a:pt x="491457" y="0"/>
                </a:lnTo>
                <a:lnTo>
                  <a:pt x="491457" y="480735"/>
                </a:lnTo>
                <a:lnTo>
                  <a:pt x="0" y="48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6848320" y="4144905"/>
            <a:ext cx="11052439" cy="116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63"/>
              </a:lnSpc>
            </a:pPr>
            <a:r>
              <a:rPr lang="en-US" sz="77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MUCHAS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13553005" y="935761"/>
            <a:ext cx="5036482" cy="5036482"/>
          </a:xfrm>
          <a:prstGeom prst="line">
            <a:avLst/>
          </a:prstGeom>
          <a:ln w="114300" cap="flat">
            <a:solidFill>
              <a:srgbClr val="FF99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7" name="AutoShape 17"/>
          <p:cNvSpPr/>
          <p:nvPr/>
        </p:nvSpPr>
        <p:spPr>
          <a:xfrm flipV="1">
            <a:off x="14602740" y="4540846"/>
            <a:ext cx="1216428" cy="1216428"/>
          </a:xfrm>
          <a:prstGeom prst="line">
            <a:avLst/>
          </a:prstGeom>
          <a:ln w="114300" cap="flat">
            <a:solidFill>
              <a:srgbClr val="FF99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Box 18"/>
          <p:cNvSpPr txBox="1"/>
          <p:nvPr/>
        </p:nvSpPr>
        <p:spPr>
          <a:xfrm>
            <a:off x="6781645" y="5371414"/>
            <a:ext cx="11119114" cy="1825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8"/>
              </a:lnSpc>
            </a:pPr>
            <a:r>
              <a:rPr lang="en-US" sz="1209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</a:t>
            </a:r>
          </a:p>
        </p:txBody>
      </p:sp>
      <p:sp>
        <p:nvSpPr>
          <p:cNvPr id="19" name="AutoShape 19"/>
          <p:cNvSpPr/>
          <p:nvPr/>
        </p:nvSpPr>
        <p:spPr>
          <a:xfrm flipV="1">
            <a:off x="12944791" y="7512571"/>
            <a:ext cx="2942644" cy="2942644"/>
          </a:xfrm>
          <a:prstGeom prst="line">
            <a:avLst/>
          </a:prstGeom>
          <a:ln w="114300" cap="flat">
            <a:solidFill>
              <a:srgbClr val="782A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0" name="AutoShape 20"/>
          <p:cNvSpPr/>
          <p:nvPr/>
        </p:nvSpPr>
        <p:spPr>
          <a:xfrm flipV="1">
            <a:off x="11473469" y="9776779"/>
            <a:ext cx="2942644" cy="2942644"/>
          </a:xfrm>
          <a:prstGeom prst="line">
            <a:avLst/>
          </a:prstGeom>
          <a:ln w="114300" cap="flat">
            <a:solidFill>
              <a:srgbClr val="782A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1" name="Freeform 21"/>
          <p:cNvSpPr/>
          <p:nvPr/>
        </p:nvSpPr>
        <p:spPr>
          <a:xfrm>
            <a:off x="1284242" y="2167741"/>
            <a:ext cx="4927680" cy="5795159"/>
          </a:xfrm>
          <a:custGeom>
            <a:avLst/>
            <a:gdLst/>
            <a:ahLst/>
            <a:cxnLst/>
            <a:rect l="l" t="t" r="r" b="b"/>
            <a:pathLst>
              <a:path w="4927680" h="5795159">
                <a:moveTo>
                  <a:pt x="0" y="0"/>
                </a:moveTo>
                <a:lnTo>
                  <a:pt x="4927680" y="0"/>
                </a:lnTo>
                <a:lnTo>
                  <a:pt x="4927680" y="5795159"/>
                </a:lnTo>
                <a:lnTo>
                  <a:pt x="0" y="57951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7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2" name="Freeform 22"/>
          <p:cNvSpPr/>
          <p:nvPr/>
        </p:nvSpPr>
        <p:spPr>
          <a:xfrm>
            <a:off x="16133298" y="3436695"/>
            <a:ext cx="1925194" cy="1925194"/>
          </a:xfrm>
          <a:custGeom>
            <a:avLst/>
            <a:gdLst/>
            <a:ahLst/>
            <a:cxnLst/>
            <a:rect l="l" t="t" r="r" b="b"/>
            <a:pathLst>
              <a:path w="1925194" h="1925194">
                <a:moveTo>
                  <a:pt x="0" y="0"/>
                </a:moveTo>
                <a:lnTo>
                  <a:pt x="1925194" y="0"/>
                </a:lnTo>
                <a:lnTo>
                  <a:pt x="1925194" y="1925194"/>
                </a:lnTo>
                <a:lnTo>
                  <a:pt x="0" y="1925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1667</TotalTime>
  <Words>326</Words>
  <Application>Microsoft Office PowerPoint</Application>
  <PresentationFormat>Personalizado</PresentationFormat>
  <Paragraphs>54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2" baseType="lpstr">
      <vt:lpstr>Open Sans 1 Italics</vt:lpstr>
      <vt:lpstr>Open Sans 1</vt:lpstr>
      <vt:lpstr>Open Sans 2 Bold</vt:lpstr>
      <vt:lpstr>Open Sans 1 Bold</vt:lpstr>
      <vt:lpstr>Open Sans 2</vt:lpstr>
      <vt:lpstr>League Spartan</vt:lpstr>
      <vt:lpstr>Calibri</vt:lpstr>
      <vt:lpstr>Arial</vt:lpstr>
      <vt:lpstr>HelveticaNeueLT Std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11FEB_FORUM_v2</dc:title>
  <dc:creator>MARI</dc:creator>
  <cp:lastModifiedBy>Soto, Maria (HDI Seguros, MX)</cp:lastModifiedBy>
  <cp:revision>9</cp:revision>
  <dcterms:created xsi:type="dcterms:W3CDTF">2006-08-16T00:00:00Z</dcterms:created>
  <dcterms:modified xsi:type="dcterms:W3CDTF">2025-11-22T14:04:11Z</dcterms:modified>
  <dc:identifier>DAGeiax7264</dc:identifier>
</cp:coreProperties>
</file>